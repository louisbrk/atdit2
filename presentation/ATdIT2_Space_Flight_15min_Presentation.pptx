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" d="100"/>
          <a:sy n="11" d="100"/>
        </p:scale>
        <p:origin x="771" y="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F65B-87EF-4A70-D5EE-A4692A8C3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4FD1B-653C-6D0F-0C5D-978C3107CD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0D2C1-D066-2686-1E7E-F0544008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D25D9-2E4B-246E-1833-EBB3FA08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0A371-1DC8-788C-8C60-CB33E83F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57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3360-E721-6E13-3BFC-3A755D67D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F176-970C-8BFF-94E1-A161D846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2BC9F-871A-6AD5-5549-7762544E5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7BA59-8592-7203-BE1A-7183ACC1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90450-D6E5-8404-A19E-E73D3C46B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7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3EBDE-1EE0-9FE4-2F08-4E95D812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F62A5-E22E-B160-D185-8E0B3339D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D60E7-2DDD-3779-42E3-0D122682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0A488-68DE-1274-6736-921FCC9E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4FBC3-488F-1BDE-728B-DC5FE57E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52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28AF-06F7-8336-2418-D4A9B4F2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4E5B-670B-0C7B-61C5-8ABD8CFD2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C8F5E-556A-599B-5C64-900E736FD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D92FE-6214-86C5-4447-F83ABD441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EDECE-D2FB-FD20-3446-176038A5F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F1BED-FEE5-D26A-504E-27ED39C6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27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542A-71D5-827E-3E81-1A21EAA8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BFFD1-69DA-0CCA-0E05-16790CF89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4481B-0B2C-F0D4-64D6-BF2915ED9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B63AC9-FB6D-C49F-5EA5-8CDFDC6E9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5FFB8-12F9-1EAC-AA89-443A5748A9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57187-6C10-B3E3-14D6-0B4DDFBA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A7AA6A-6E98-FEBB-2515-484E483E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17150C-7260-2ABF-38D6-0950F156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59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0CE3-D623-4FF3-C662-DAEE508F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93CA8-7082-A31B-99DD-F737FFAE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811E1-CEA1-9C3E-51FE-B5AE431B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7C381-7C71-A5E2-FAE8-FB71A3BD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78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DE0E1-402F-2F2B-1F82-BB2ABFD2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B608F-E137-7081-6C26-9AB45417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B5F75-FE19-DE52-81C7-B40816AE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89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BEBA-02A7-D55C-9CD9-3B66EEA24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28F9A-7D09-A6A6-4B5C-3E15BC77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204F9-5B07-5919-B4E6-8ED704136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B0659-0B40-6DEE-1D0B-2411496A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8D12A-B8A9-6655-A75E-59A2EAA54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16790-2BDD-00E5-6CFB-F1724A2B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1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4AC73-8E6E-E4E4-9EAC-B74575500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99FE4-8665-78D7-5461-44F8B064E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C8CF9-DA50-A96F-65E9-6C49040F9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E9312-AAAA-FD78-9758-B247A6E51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2740C-20FD-17DE-E6DD-0603B4DF3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31A9D-A371-BF7B-88B2-BCD18025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075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B286-E0DD-1D4E-756F-242DC18C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7B697-7556-4082-9782-CA3C5C31B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1E7-A322-26B8-06D6-F5494B2A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F89C0-B041-4999-FD3A-F5576FC6F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7116C-A026-FF04-6122-EDAC34C07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325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3802E-DBD8-8D16-4948-95C5B24F5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3541E-7F4A-2F15-FDB1-0149D3059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078ED-7538-5B1B-739A-896160155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CEF3A-4439-9FD1-67A1-9E27AAAD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195D1-A2B4-44E5-EE89-F1D50ECC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5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548E03-9C98-E49E-F5FC-3E924B53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4D05A-624E-E24A-57FB-6A1E463E8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AE016-31A6-B66D-12EE-BD4AD570E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A5CFA-B9A6-49D4-8AD8-9FB08267DAD4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CE9A4-7A14-7C58-A4CB-9EB49204B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F42F7-20DE-666D-116C-8291DD2A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51756-3853-4508-BBF2-F767AE00EA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52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D43863-D9B8-1F8A-6DFB-18A53E4FDEF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BBF52-B65B-192C-EF88-2DF7C00DA953}"/>
              </a:ext>
            </a:extLst>
          </p:cNvPr>
          <p:cNvSpPr txBox="1"/>
          <p:nvPr/>
        </p:nvSpPr>
        <p:spPr>
          <a:xfrm>
            <a:off x="584200" y="914400"/>
            <a:ext cx="5461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3000" b="1">
                <a:solidFill>
                  <a:srgbClr val="FFFFFF"/>
                </a:solidFill>
                <a:latin typeface="Aptos Display" panose="020B0004020202020204" pitchFamily="34" charset="0"/>
              </a:rPr>
              <a:t>Space Flight Phase</a:t>
            </a:r>
            <a:endParaRPr lang="zh-CN" altLang="en-US" sz="3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C3DE8-9BAA-18E0-2A76-0B30E15437EA}"/>
              </a:ext>
            </a:extLst>
          </p:cNvPr>
          <p:cNvSpPr txBox="1"/>
          <p:nvPr/>
        </p:nvSpPr>
        <p:spPr>
          <a:xfrm>
            <a:off x="584200" y="1498600"/>
            <a:ext cx="7112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400" b="1">
                <a:solidFill>
                  <a:srgbClr val="FFFFFF"/>
                </a:solidFill>
                <a:latin typeface="Aptos" panose="020B0004020202020204" pitchFamily="34" charset="0"/>
              </a:rPr>
              <a:t>In-Flight Passenger Support &amp; Emergency Escalation System</a:t>
            </a:r>
            <a:endParaRPr lang="zh-CN" altLang="en-US" sz="2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C0A10-26A5-1AD5-0F24-61F771B5DF44}"/>
              </a:ext>
            </a:extLst>
          </p:cNvPr>
          <p:cNvSpPr txBox="1"/>
          <p:nvPr/>
        </p:nvSpPr>
        <p:spPr>
          <a:xfrm>
            <a:off x="584200" y="2260600"/>
            <a:ext cx="7493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E0F4F7"/>
                </a:solidFill>
                <a:latin typeface="Aptos" panose="020B0004020202020204" pitchFamily="34" charset="0"/>
              </a:rPr>
              <a:t>15-minute presentation | fictional company context: space tourism provider run by "Elon Bezos"</a:t>
            </a:r>
            <a:endParaRPr lang="zh-CN" altLang="en-US" sz="1400">
              <a:solidFill>
                <a:srgbClr val="E0F4F7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4ED075-77E7-B3CF-1539-312B425B787F}"/>
              </a:ext>
            </a:extLst>
          </p:cNvPr>
          <p:cNvSpPr/>
          <p:nvPr/>
        </p:nvSpPr>
        <p:spPr>
          <a:xfrm>
            <a:off x="584200" y="3175000"/>
            <a:ext cx="3492500" cy="20066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13FC1-6F02-B3EC-3C90-B7D6708E7A08}"/>
              </a:ext>
            </a:extLst>
          </p:cNvPr>
          <p:cNvSpPr txBox="1"/>
          <p:nvPr/>
        </p:nvSpPr>
        <p:spPr>
          <a:xfrm>
            <a:off x="762000" y="3327400"/>
            <a:ext cx="3136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Presentation goal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A9DCB5-A099-C53F-CCC1-0172543904BF}"/>
              </a:ext>
            </a:extLst>
          </p:cNvPr>
          <p:cNvSpPr txBox="1"/>
          <p:nvPr/>
        </p:nvSpPr>
        <p:spPr>
          <a:xfrm>
            <a:off x="762000" y="3733800"/>
            <a:ext cx="3136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Show the business process in the Space Flight phase, explain the software prototype focus, and identify the next iteration.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885696-E9FA-B2E8-8AB4-609F6147E33E}"/>
              </a:ext>
            </a:extLst>
          </p:cNvPr>
          <p:cNvSpPr/>
          <p:nvPr/>
        </p:nvSpPr>
        <p:spPr>
          <a:xfrm>
            <a:off x="4343400" y="3175000"/>
            <a:ext cx="3492500" cy="20066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0051A5-6794-DCD6-22F8-44041731F215}"/>
              </a:ext>
            </a:extLst>
          </p:cNvPr>
          <p:cNvSpPr txBox="1"/>
          <p:nvPr/>
        </p:nvSpPr>
        <p:spPr>
          <a:xfrm>
            <a:off x="4521200" y="3327400"/>
            <a:ext cx="3136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Core promise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FA762-851D-06E7-099F-BC2916C6C5E4}"/>
              </a:ext>
            </a:extLst>
          </p:cNvPr>
          <p:cNvSpPr txBox="1"/>
          <p:nvPr/>
        </p:nvSpPr>
        <p:spPr>
          <a:xfrm>
            <a:off x="4521200" y="3733800"/>
            <a:ext cx="3136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The process must work in the normal support case and also when incidents become critical or onboard support is unavailable.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CE44C7-71EE-0E87-6F64-3EB0E91CA4BD}"/>
              </a:ext>
            </a:extLst>
          </p:cNvPr>
          <p:cNvSpPr/>
          <p:nvPr/>
        </p:nvSpPr>
        <p:spPr>
          <a:xfrm>
            <a:off x="8102600" y="3175000"/>
            <a:ext cx="3505200" cy="20066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C677F3-2D36-0E4B-7205-AEDF85933917}"/>
              </a:ext>
            </a:extLst>
          </p:cNvPr>
          <p:cNvSpPr txBox="1"/>
          <p:nvPr/>
        </p:nvSpPr>
        <p:spPr>
          <a:xfrm>
            <a:off x="8280400" y="3327400"/>
            <a:ext cx="31496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Team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837E0F-A05A-8937-EBF7-19AAA05A16B4}"/>
              </a:ext>
            </a:extLst>
          </p:cNvPr>
          <p:cNvSpPr txBox="1"/>
          <p:nvPr/>
        </p:nvSpPr>
        <p:spPr>
          <a:xfrm>
            <a:off x="8280400" y="3733800"/>
            <a:ext cx="31496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Wenhuan Liang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Vivienne Wuehl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Valentin Reifke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Louis Burckel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Tim Vetter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FF6DB8-C44C-F361-CD54-94E6000C9B2D}"/>
              </a:ext>
            </a:extLst>
          </p:cNvPr>
          <p:cNvSpPr txBox="1"/>
          <p:nvPr/>
        </p:nvSpPr>
        <p:spPr>
          <a:xfrm>
            <a:off x="584200" y="5715000"/>
            <a:ext cx="110236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FFFFFF"/>
                </a:solidFill>
                <a:latin typeface="Aptos" panose="020B0004020202020204" pitchFamily="34" charset="0"/>
              </a:rPr>
              <a:t>Status: prototype and presentation-ready process thinking after the second project session</a:t>
            </a:r>
            <a:endParaRPr lang="zh-CN" altLang="en-US" sz="14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38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9A232-B73C-8C64-15CA-C2CD89D8DC36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15D4C2-5566-ED69-AF23-1EA4C6F8FF4D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D895E-3517-1E2E-179D-A0997502699D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TODAY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C16E0-891B-57B2-5282-E36DA87814DA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Storyline for the next 15 minutes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79B31-CA95-07FB-485E-B173F311F5E3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The deck is structured around the three parts your professor explicitly asked for.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608AD4-D288-CB73-A6EF-94D10DCA6BCE}"/>
              </a:ext>
            </a:extLst>
          </p:cNvPr>
          <p:cNvSpPr/>
          <p:nvPr/>
        </p:nvSpPr>
        <p:spPr>
          <a:xfrm>
            <a:off x="558800" y="1905000"/>
            <a:ext cx="3429000" cy="2794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90BEC-532C-5B0F-C58B-9EC54F957747}"/>
              </a:ext>
            </a:extLst>
          </p:cNvPr>
          <p:cNvSpPr txBox="1"/>
          <p:nvPr/>
        </p:nvSpPr>
        <p:spPr>
          <a:xfrm>
            <a:off x="7366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1. Present business process and main personas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172FD9-CF48-1730-575E-CD88E429F36A}"/>
              </a:ext>
            </a:extLst>
          </p:cNvPr>
          <p:cNvSpPr txBox="1"/>
          <p:nvPr/>
        </p:nvSpPr>
        <p:spPr>
          <a:xfrm>
            <a:off x="7366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What happens during the flight, which actors are active, and how normal and exceptional cases differ.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F43731-C544-BDEE-D83F-F75763A5D1F5}"/>
              </a:ext>
            </a:extLst>
          </p:cNvPr>
          <p:cNvSpPr/>
          <p:nvPr/>
        </p:nvSpPr>
        <p:spPr>
          <a:xfrm>
            <a:off x="4381500" y="1905000"/>
            <a:ext cx="3429000" cy="2794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7A59C-BE49-EF56-D812-7E67703017E6}"/>
              </a:ext>
            </a:extLst>
          </p:cNvPr>
          <p:cNvSpPr txBox="1"/>
          <p:nvPr/>
        </p:nvSpPr>
        <p:spPr>
          <a:xfrm>
            <a:off x="45593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2. Explain the focus of the software prototype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5BA89-D4AB-309B-0EB1-39E2AB6C9428}"/>
              </a:ext>
            </a:extLst>
          </p:cNvPr>
          <p:cNvSpPr txBox="1"/>
          <p:nvPr/>
        </p:nvSpPr>
        <p:spPr>
          <a:xfrm>
            <a:off x="45593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Why the prototype is intentionally narrow, what the JavaFX application supports, and how it addresses the professor feedback.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4D44BE-564F-2D98-0442-8B1503409D69}"/>
              </a:ext>
            </a:extLst>
          </p:cNvPr>
          <p:cNvSpPr/>
          <p:nvPr/>
        </p:nvSpPr>
        <p:spPr>
          <a:xfrm>
            <a:off x="8204200" y="1905000"/>
            <a:ext cx="3429000" cy="27940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C7BCD-C4BE-4544-8FD2-018BE01A342C}"/>
              </a:ext>
            </a:extLst>
          </p:cNvPr>
          <p:cNvSpPr txBox="1"/>
          <p:nvPr/>
        </p:nvSpPr>
        <p:spPr>
          <a:xfrm>
            <a:off x="83820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3. Open points for the next iteration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9534C3-8136-DDF4-23C0-B3A2A3E67682}"/>
              </a:ext>
            </a:extLst>
          </p:cNvPr>
          <p:cNvSpPr txBox="1"/>
          <p:nvPr/>
        </p:nvSpPr>
        <p:spPr>
          <a:xfrm>
            <a:off x="83820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What is still group work, where BPMN in Signavio needs refinement, and which new personas or edge cases should be added.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291409-3F66-695C-83C1-A8F9602E4ECB}"/>
              </a:ext>
            </a:extLst>
          </p:cNvPr>
          <p:cNvSpPr txBox="1"/>
          <p:nvPr/>
        </p:nvSpPr>
        <p:spPr>
          <a:xfrm>
            <a:off x="558800" y="5207000"/>
            <a:ext cx="11049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Recommended pacing: 5 min process, 6 min prototype, 3 min next iteration, 1 min questions.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13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336868-88F7-44D9-4501-EFBDC08A0FB5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AA5452-EAD6-91D7-9893-3054CE2C0398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F41A0-1644-5283-C64A-320096EFE743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1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59CD5-8436-7451-E0EC-311B50E142B7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Business problem and project scope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EA1BB-4FAE-CA88-799D-688FD29DACF8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We are responsible only for the Space Flight phase, not the whole enterprise platform.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E38279-8CE7-47CF-C6B8-3FC9E268BA2B}"/>
              </a:ext>
            </a:extLst>
          </p:cNvPr>
          <p:cNvSpPr/>
          <p:nvPr/>
        </p:nvSpPr>
        <p:spPr>
          <a:xfrm>
            <a:off x="558800" y="1905000"/>
            <a:ext cx="5207000" cy="3048000"/>
          </a:xfrm>
          <a:prstGeom prst="roundRect">
            <a:avLst/>
          </a:prstGeom>
          <a:solidFill>
            <a:srgbClr val="F8E4E2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1C044-AD87-CB4C-F32C-A971D0F9E5DC}"/>
              </a:ext>
            </a:extLst>
          </p:cNvPr>
          <p:cNvSpPr txBox="1"/>
          <p:nvPr/>
        </p:nvSpPr>
        <p:spPr>
          <a:xfrm>
            <a:off x="736600" y="2057400"/>
            <a:ext cx="4851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Business problem in the flight phase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A3801-C6EA-737D-5329-6119DDE24FB2}"/>
              </a:ext>
            </a:extLst>
          </p:cNvPr>
          <p:cNvSpPr txBox="1"/>
          <p:nvPr/>
        </p:nvSpPr>
        <p:spPr>
          <a:xfrm>
            <a:off x="736600" y="2463800"/>
            <a:ext cx="4851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?Passengers can experience stress, nausea, panic, or medical symptoms during the actual flight.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?Without structured software support, reactions are ad hoc and difficult to trace.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?The professor explicitly challenged us to think beyond the happy path.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 critical point is that onboard support itself can become unavailable.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11B7DBB-C924-8730-27C2-7BE83C8E4707}"/>
              </a:ext>
            </a:extLst>
          </p:cNvPr>
          <p:cNvSpPr/>
          <p:nvPr/>
        </p:nvSpPr>
        <p:spPr>
          <a:xfrm>
            <a:off x="6350000" y="1905000"/>
            <a:ext cx="5257800" cy="3048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C122E-83F4-ACB9-2644-A63AD5DAC2A6}"/>
              </a:ext>
            </a:extLst>
          </p:cNvPr>
          <p:cNvSpPr txBox="1"/>
          <p:nvPr/>
        </p:nvSpPr>
        <p:spPr>
          <a:xfrm>
            <a:off x="6527800" y="2057400"/>
            <a:ext cx="4902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Chosen scope of this team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07DBD3-8C69-8F96-2A63-034662C7284C}"/>
              </a:ext>
            </a:extLst>
          </p:cNvPr>
          <p:cNvSpPr txBox="1"/>
          <p:nvPr/>
        </p:nvSpPr>
        <p:spPr>
          <a:xfrm>
            <a:off x="6527800" y="2463800"/>
            <a:ext cx="4902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?Focused core process: in-flight passenger support and emergency escalation.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?Two required cases: normal support case and emergency or fallback case.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?Priorities: clarity, maintainability, presentation value, and realistic proof-of-concept scope.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?Out of scope: real telemetry, real AI diagnosis, enterprise platform features, and advanced integration.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489C1E-687C-9F29-9610-05804BB94732}"/>
              </a:ext>
            </a:extLst>
          </p:cNvPr>
          <p:cNvSpPr txBox="1"/>
          <p:nvPr/>
        </p:nvSpPr>
        <p:spPr>
          <a:xfrm>
            <a:off x="558800" y="5461000"/>
            <a:ext cx="11049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500" b="1">
                <a:solidFill>
                  <a:srgbClr val="10243A"/>
                </a:solidFill>
                <a:latin typeface="Aptos" panose="020B0004020202020204" pitchFamily="34" charset="0"/>
              </a:rPr>
              <a:t>Key framing sentence for the presentation: We do not solve all company problems; we solve one high-risk process in the actual flight phase.</a:t>
            </a:r>
            <a:endParaRPr lang="zh-CN" altLang="en-US" sz="15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770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EE9786-8243-3D51-7F4E-BC20BC592BD5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4A346C-0BEE-DF83-8B74-244394831BEB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17EDE-77C5-38ED-602C-05D705D8F09D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1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A301F-C951-85AD-DBB7-CA4288AABDD5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Business process overview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134BC-7F90-6554-3096-04F3A6C00B4D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The process has one normal path and one escalation path, both visible in the prototype.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63304-10D8-8135-C6E7-3B7B3C66266C}"/>
              </a:ext>
            </a:extLst>
          </p:cNvPr>
          <p:cNvSpPr txBox="1"/>
          <p:nvPr/>
        </p:nvSpPr>
        <p:spPr>
          <a:xfrm>
            <a:off x="558800" y="1752600"/>
            <a:ext cx="3175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3E8E5B"/>
                </a:solidFill>
                <a:latin typeface="Aptos" panose="020B0004020202020204" pitchFamily="34" charset="0"/>
              </a:rPr>
              <a:t>Normal support case</a:t>
            </a:r>
            <a:endParaRPr lang="zh-CN" altLang="en-US" sz="1800" b="1">
              <a:solidFill>
                <a:srgbClr val="3E8E5B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3E19B-D586-85DB-8BAA-352BC3099570}"/>
              </a:ext>
            </a:extLst>
          </p:cNvPr>
          <p:cNvSpPr txBox="1"/>
          <p:nvPr/>
        </p:nvSpPr>
        <p:spPr>
          <a:xfrm>
            <a:off x="558800" y="3581400"/>
            <a:ext cx="355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BF3C3C"/>
                </a:solidFill>
                <a:latin typeface="Aptos" panose="020B0004020202020204" pitchFamily="34" charset="0"/>
              </a:rPr>
              <a:t>Emergency or fallback case</a:t>
            </a:r>
            <a:endParaRPr lang="zh-CN" altLang="en-US" sz="1800" b="1">
              <a:solidFill>
                <a:srgbClr val="BF3C3C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7A3E165-76D4-AB38-8777-5A7BD961E83C}"/>
              </a:ext>
            </a:extLst>
          </p:cNvPr>
          <p:cNvSpPr/>
          <p:nvPr/>
        </p:nvSpPr>
        <p:spPr>
          <a:xfrm>
            <a:off x="558800" y="2235200"/>
            <a:ext cx="1905000" cy="736600"/>
          </a:xfrm>
          <a:prstGeom prst="roundRect">
            <a:avLst/>
          </a:prstGeom>
          <a:solidFill>
            <a:srgbClr val="E1EFF6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68544D-D7FA-388A-F79F-A8AAEA64C856}"/>
              </a:ext>
            </a:extLst>
          </p:cNvPr>
          <p:cNvSpPr txBox="1"/>
          <p:nvPr/>
        </p:nvSpPr>
        <p:spPr>
          <a:xfrm>
            <a:off x="660400" y="24130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Passenger reports discomfort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A1F7EA-C7FE-AFDD-92E5-930DB5CBF01F}"/>
              </a:ext>
            </a:extLst>
          </p:cNvPr>
          <p:cNvSpPr txBox="1"/>
          <p:nvPr/>
        </p:nvSpPr>
        <p:spPr>
          <a:xfrm>
            <a:off x="2527300" y="24384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96AAD3-73B1-87F0-9A23-DD8AAB3B18B9}"/>
              </a:ext>
            </a:extLst>
          </p:cNvPr>
          <p:cNvSpPr/>
          <p:nvPr/>
        </p:nvSpPr>
        <p:spPr>
          <a:xfrm>
            <a:off x="2870200" y="2235200"/>
            <a:ext cx="1905000" cy="736600"/>
          </a:xfrm>
          <a:prstGeom prst="roundRect">
            <a:avLst/>
          </a:prstGeom>
          <a:solidFill>
            <a:srgbClr val="E1EFF6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125E4-98DA-2C4A-0F22-D6AA6D2C152F}"/>
              </a:ext>
            </a:extLst>
          </p:cNvPr>
          <p:cNvSpPr txBox="1"/>
          <p:nvPr/>
        </p:nvSpPr>
        <p:spPr>
          <a:xfrm>
            <a:off x="2971800" y="24130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Onboard support assesses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7A82DC-F1AF-4457-6CE3-AB44EA72A7C1}"/>
              </a:ext>
            </a:extLst>
          </p:cNvPr>
          <p:cNvSpPr txBox="1"/>
          <p:nvPr/>
        </p:nvSpPr>
        <p:spPr>
          <a:xfrm>
            <a:off x="4838700" y="24384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1DE5F1-E50E-384E-AD46-10146329BF96}"/>
              </a:ext>
            </a:extLst>
          </p:cNvPr>
          <p:cNvSpPr/>
          <p:nvPr/>
        </p:nvSpPr>
        <p:spPr>
          <a:xfrm>
            <a:off x="5181600" y="2235200"/>
            <a:ext cx="1905000" cy="736600"/>
          </a:xfrm>
          <a:prstGeom prst="roundRect">
            <a:avLst/>
          </a:prstGeom>
          <a:solidFill>
            <a:srgbClr val="E1EFF6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6DE0A-3E90-3537-A2CC-141FCD7024BB}"/>
              </a:ext>
            </a:extLst>
          </p:cNvPr>
          <p:cNvSpPr txBox="1"/>
          <p:nvPr/>
        </p:nvSpPr>
        <p:spPr>
          <a:xfrm>
            <a:off x="5283200" y="24130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Support action selected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FA48B5-EA32-D47B-318F-4AD1DD4F583F}"/>
              </a:ext>
            </a:extLst>
          </p:cNvPr>
          <p:cNvSpPr txBox="1"/>
          <p:nvPr/>
        </p:nvSpPr>
        <p:spPr>
          <a:xfrm>
            <a:off x="7150100" y="24384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DD10F1-AA56-1399-3E63-E64E951B9562}"/>
              </a:ext>
            </a:extLst>
          </p:cNvPr>
          <p:cNvSpPr/>
          <p:nvPr/>
        </p:nvSpPr>
        <p:spPr>
          <a:xfrm>
            <a:off x="7493000" y="2235200"/>
            <a:ext cx="1905000" cy="736600"/>
          </a:xfrm>
          <a:prstGeom prst="roundRect">
            <a:avLst/>
          </a:prstGeom>
          <a:solidFill>
            <a:srgbClr val="E1EFF6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DB1CF-F3DA-7B6F-3E0C-D7A9A82BAE79}"/>
              </a:ext>
            </a:extLst>
          </p:cNvPr>
          <p:cNvSpPr txBox="1"/>
          <p:nvPr/>
        </p:nvSpPr>
        <p:spPr>
          <a:xfrm>
            <a:off x="7594600" y="24130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Passenger monitored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6831EF-6387-9CEC-4663-E58FD0B44E37}"/>
              </a:ext>
            </a:extLst>
          </p:cNvPr>
          <p:cNvSpPr txBox="1"/>
          <p:nvPr/>
        </p:nvSpPr>
        <p:spPr>
          <a:xfrm>
            <a:off x="9461500" y="24384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1BB97E-4897-473E-D91F-62B28C1B9881}"/>
              </a:ext>
            </a:extLst>
          </p:cNvPr>
          <p:cNvSpPr/>
          <p:nvPr/>
        </p:nvSpPr>
        <p:spPr>
          <a:xfrm>
            <a:off x="9804400" y="2235200"/>
            <a:ext cx="1803400" cy="736600"/>
          </a:xfrm>
          <a:prstGeom prst="roundRect">
            <a:avLst/>
          </a:prstGeom>
          <a:solidFill>
            <a:srgbClr val="E3F2E6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8AE18F-0AB2-9B02-096A-F15173630BA5}"/>
              </a:ext>
            </a:extLst>
          </p:cNvPr>
          <p:cNvSpPr txBox="1"/>
          <p:nvPr/>
        </p:nvSpPr>
        <p:spPr>
          <a:xfrm>
            <a:off x="9906000" y="2413000"/>
            <a:ext cx="1600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Incident resolved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AEF236-918C-30A2-41E8-779735C2A4F6}"/>
              </a:ext>
            </a:extLst>
          </p:cNvPr>
          <p:cNvSpPr/>
          <p:nvPr/>
        </p:nvSpPr>
        <p:spPr>
          <a:xfrm>
            <a:off x="558800" y="4064000"/>
            <a:ext cx="1905000" cy="736600"/>
          </a:xfrm>
          <a:prstGeom prst="roundRect">
            <a:avLst/>
          </a:prstGeom>
          <a:solidFill>
            <a:srgbClr val="FCEBDD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E5633F-7658-BF69-BDC6-D2807B2EFC39}"/>
              </a:ext>
            </a:extLst>
          </p:cNvPr>
          <p:cNvSpPr txBox="1"/>
          <p:nvPr/>
        </p:nvSpPr>
        <p:spPr>
          <a:xfrm>
            <a:off x="660400" y="42418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Critical symptom or support unavailable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FCFFD6-DF02-3B6E-8DC4-D89E6B11C81A}"/>
              </a:ext>
            </a:extLst>
          </p:cNvPr>
          <p:cNvSpPr txBox="1"/>
          <p:nvPr/>
        </p:nvSpPr>
        <p:spPr>
          <a:xfrm>
            <a:off x="2527300" y="42672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4B0692-F3A3-18DD-6414-E78437C217C0}"/>
              </a:ext>
            </a:extLst>
          </p:cNvPr>
          <p:cNvSpPr/>
          <p:nvPr/>
        </p:nvSpPr>
        <p:spPr>
          <a:xfrm>
            <a:off x="2870200" y="4064000"/>
            <a:ext cx="1905000" cy="736600"/>
          </a:xfrm>
          <a:prstGeom prst="roundRect">
            <a:avLst/>
          </a:prstGeom>
          <a:solidFill>
            <a:srgbClr val="FCEBDD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97191B-DBF6-8BC6-88C7-E5782318E373}"/>
              </a:ext>
            </a:extLst>
          </p:cNvPr>
          <p:cNvSpPr txBox="1"/>
          <p:nvPr/>
        </p:nvSpPr>
        <p:spPr>
          <a:xfrm>
            <a:off x="2971800" y="42418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System escalates automatically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4B8B84-9E4E-BB0B-E517-C043F89A9293}"/>
              </a:ext>
            </a:extLst>
          </p:cNvPr>
          <p:cNvSpPr txBox="1"/>
          <p:nvPr/>
        </p:nvSpPr>
        <p:spPr>
          <a:xfrm>
            <a:off x="4838700" y="42672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5BC938-0C74-99B1-B76A-594753B0F95A}"/>
              </a:ext>
            </a:extLst>
          </p:cNvPr>
          <p:cNvSpPr/>
          <p:nvPr/>
        </p:nvSpPr>
        <p:spPr>
          <a:xfrm>
            <a:off x="5181600" y="4064000"/>
            <a:ext cx="1905000" cy="736600"/>
          </a:xfrm>
          <a:prstGeom prst="roundRect">
            <a:avLst/>
          </a:prstGeom>
          <a:solidFill>
            <a:srgbClr val="FCEBDD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5BC8F-9F8B-C1AC-04CC-74D8A752BBEF}"/>
              </a:ext>
            </a:extLst>
          </p:cNvPr>
          <p:cNvSpPr txBox="1"/>
          <p:nvPr/>
        </p:nvSpPr>
        <p:spPr>
          <a:xfrm>
            <a:off x="5283200" y="42418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Base station takes over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A16A53-7493-8A3F-0264-DFB5D2437020}"/>
              </a:ext>
            </a:extLst>
          </p:cNvPr>
          <p:cNvSpPr txBox="1"/>
          <p:nvPr/>
        </p:nvSpPr>
        <p:spPr>
          <a:xfrm>
            <a:off x="7150100" y="42672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4E04447-51CA-E3D2-CA67-4ADE6687F6CF}"/>
              </a:ext>
            </a:extLst>
          </p:cNvPr>
          <p:cNvSpPr/>
          <p:nvPr/>
        </p:nvSpPr>
        <p:spPr>
          <a:xfrm>
            <a:off x="7493000" y="4064000"/>
            <a:ext cx="1905000" cy="736600"/>
          </a:xfrm>
          <a:prstGeom prst="roundRect">
            <a:avLst/>
          </a:prstGeom>
          <a:solidFill>
            <a:srgbClr val="FCEBDD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68CBFB-587B-1535-8DD0-7E676D638252}"/>
              </a:ext>
            </a:extLst>
          </p:cNvPr>
          <p:cNvSpPr txBox="1"/>
          <p:nvPr/>
        </p:nvSpPr>
        <p:spPr>
          <a:xfrm>
            <a:off x="7594600" y="4241800"/>
            <a:ext cx="1701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Emergency response coordinated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978EB-BE5B-91CA-86F8-F54840A0DD76}"/>
              </a:ext>
            </a:extLst>
          </p:cNvPr>
          <p:cNvSpPr txBox="1"/>
          <p:nvPr/>
        </p:nvSpPr>
        <p:spPr>
          <a:xfrm>
            <a:off x="9461500" y="4267200"/>
            <a:ext cx="3175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2000" b="1">
                <a:solidFill>
                  <a:srgbClr val="46586D"/>
                </a:solidFill>
                <a:latin typeface="Aptos" panose="020B0004020202020204" pitchFamily="34" charset="0"/>
              </a:rPr>
              <a:t>&gt;</a:t>
            </a:r>
            <a:endParaRPr lang="zh-CN" altLang="en-US" sz="2000" b="1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DC879BE-7842-3489-F466-BE2A2C21FB3A}"/>
              </a:ext>
            </a:extLst>
          </p:cNvPr>
          <p:cNvSpPr/>
          <p:nvPr/>
        </p:nvSpPr>
        <p:spPr>
          <a:xfrm>
            <a:off x="9804400" y="4064000"/>
            <a:ext cx="1803400" cy="736600"/>
          </a:xfrm>
          <a:prstGeom prst="roundRect">
            <a:avLst/>
          </a:prstGeom>
          <a:solidFill>
            <a:srgbClr val="F8E4E2"/>
          </a:solidFill>
          <a:ln w="1397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50DCFEB-5502-BDBC-77AD-47E4BC4079BA}"/>
              </a:ext>
            </a:extLst>
          </p:cNvPr>
          <p:cNvSpPr txBox="1"/>
          <p:nvPr/>
        </p:nvSpPr>
        <p:spPr>
          <a:xfrm>
            <a:off x="9906000" y="4241800"/>
            <a:ext cx="1600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10243A"/>
                </a:solidFill>
                <a:latin typeface="Aptos" panose="020B0004020202020204" pitchFamily="34" charset="0"/>
              </a:rPr>
              <a:t>Traceable closure</a:t>
            </a:r>
            <a:endParaRPr lang="zh-CN" altLang="en-US" sz="13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4A4ADA6-EF99-7173-27A0-9B0C0FEF0724}"/>
              </a:ext>
            </a:extLst>
          </p:cNvPr>
          <p:cNvSpPr/>
          <p:nvPr/>
        </p:nvSpPr>
        <p:spPr>
          <a:xfrm>
            <a:off x="558800" y="5283200"/>
            <a:ext cx="11049000" cy="939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0D1865-A880-6916-37C7-FA689912CD3A}"/>
              </a:ext>
            </a:extLst>
          </p:cNvPr>
          <p:cNvSpPr txBox="1"/>
          <p:nvPr/>
        </p:nvSpPr>
        <p:spPr>
          <a:xfrm>
            <a:off x="736600" y="5435600"/>
            <a:ext cx="1069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Workflow states represented in software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04219-3503-A609-6B28-5BE13113FE30}"/>
              </a:ext>
            </a:extLst>
          </p:cNvPr>
          <p:cNvSpPr txBox="1"/>
          <p:nvPr/>
        </p:nvSpPr>
        <p:spPr>
          <a:xfrm>
            <a:off x="736600" y="5842000"/>
            <a:ext cx="1069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New -&gt; Assessing -&gt; Monitoring -&gt; Escalated -&gt; Resolved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74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365C5E-A7C2-1A93-7239-F41A545471E2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2F2A5F-D607-9FEE-B839-027F460FA98A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D5724-3799-D634-7246-E295CE9B6EB2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1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8111C-18E1-B98E-8FEE-F715B440B6D5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Main personas in the core process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F7AA42-ECBB-45A3-8CCB-853EB011240C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These are the active user groups that should also be visible in the BPMN model.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57BA83-ED78-40B3-CA10-C5DE61DB605B}"/>
              </a:ext>
            </a:extLst>
          </p:cNvPr>
          <p:cNvSpPr/>
          <p:nvPr/>
        </p:nvSpPr>
        <p:spPr>
          <a:xfrm>
            <a:off x="558800" y="1905000"/>
            <a:ext cx="3429000" cy="3175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BC7CB-02B1-4292-6FC5-AB24A3348A3C}"/>
              </a:ext>
            </a:extLst>
          </p:cNvPr>
          <p:cNvSpPr txBox="1"/>
          <p:nvPr/>
        </p:nvSpPr>
        <p:spPr>
          <a:xfrm>
            <a:off x="7366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Passenger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D574D-49F7-8E00-4B6A-A98456C3D6E1}"/>
              </a:ext>
            </a:extLst>
          </p:cNvPr>
          <p:cNvSpPr txBox="1"/>
          <p:nvPr/>
        </p:nvSpPr>
        <p:spPr>
          <a:xfrm>
            <a:off x="7366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Examples: Jennifer Monroe and Ben Cooper.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?reports discomfort or receives support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?can be anxious, panicked, or medically affected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?needs clear communication and reassurance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9DF30D-D1B4-384C-E584-E6C88AC6699A}"/>
              </a:ext>
            </a:extLst>
          </p:cNvPr>
          <p:cNvSpPr/>
          <p:nvPr/>
        </p:nvSpPr>
        <p:spPr>
          <a:xfrm>
            <a:off x="4381500" y="1905000"/>
            <a:ext cx="3429000" cy="3175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0C1D5-2647-8ED2-E064-02443800F536}"/>
              </a:ext>
            </a:extLst>
          </p:cNvPr>
          <p:cNvSpPr txBox="1"/>
          <p:nvPr/>
        </p:nvSpPr>
        <p:spPr>
          <a:xfrm>
            <a:off x="45593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Onboard Support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FB716-6532-90A1-FDDA-A985026B05F8}"/>
              </a:ext>
            </a:extLst>
          </p:cNvPr>
          <p:cNvSpPr txBox="1"/>
          <p:nvPr/>
        </p:nvSpPr>
        <p:spPr>
          <a:xfrm>
            <a:off x="45593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Example: Emma Bright.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?first line of support during the flight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?assesses normal incidents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?chooses support action and monitors the passenger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9176F1-3C15-42E3-D267-370A8A862AD5}"/>
              </a:ext>
            </a:extLst>
          </p:cNvPr>
          <p:cNvSpPr/>
          <p:nvPr/>
        </p:nvSpPr>
        <p:spPr>
          <a:xfrm>
            <a:off x="8204200" y="1905000"/>
            <a:ext cx="3429000" cy="31750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74775-6DC2-5B48-3ECA-12E131DF5F9E}"/>
              </a:ext>
            </a:extLst>
          </p:cNvPr>
          <p:cNvSpPr txBox="1"/>
          <p:nvPr/>
        </p:nvSpPr>
        <p:spPr>
          <a:xfrm>
            <a:off x="83820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Base Station Operator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D0F329-3715-405C-7A44-BF4AECC08D12}"/>
              </a:ext>
            </a:extLst>
          </p:cNvPr>
          <p:cNvSpPr txBox="1"/>
          <p:nvPr/>
        </p:nvSpPr>
        <p:spPr>
          <a:xfrm>
            <a:off x="83820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Example: Brendon Fitz.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?remote backup and supervisory role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?takes over escalated or fallback cases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?needs full visibility and traceability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D380D-E472-335D-9BBD-BB7751506CB6}"/>
              </a:ext>
            </a:extLst>
          </p:cNvPr>
          <p:cNvSpPr txBox="1"/>
          <p:nvPr/>
        </p:nvSpPr>
        <p:spPr>
          <a:xfrm>
            <a:off x="558800" y="5461000"/>
            <a:ext cx="1104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500" b="1">
                <a:solidFill>
                  <a:srgbClr val="10243A"/>
                </a:solidFill>
                <a:latin typeface="Aptos" panose="020B0004020202020204" pitchFamily="34" charset="0"/>
              </a:rPr>
              <a:t>Important argument in the presentation: the personas directly drive the process, the software behavior, and the handover logic.</a:t>
            </a:r>
            <a:endParaRPr lang="zh-CN" altLang="en-US" sz="15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06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426562-07B3-3F49-F522-EE0396978DA6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D07450-84DF-5119-8429-A7950E74FBC1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A00FA-4A19-5AF5-86FE-A171DE4B6735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BPMN / PERSONAS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D9FB45-4376-44F9-8687-01C4119AE5D0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Suggestions for Signavio and for the next persona set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A23E24-49BC-3674-54E0-4FE95EFAC609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This reflects the team discussion about additional expert roles and more realistic passenger diversity.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F2EA87-77A4-471A-2A55-2CECE4BC777E}"/>
              </a:ext>
            </a:extLst>
          </p:cNvPr>
          <p:cNvSpPr/>
          <p:nvPr/>
        </p:nvSpPr>
        <p:spPr>
          <a:xfrm>
            <a:off x="558800" y="1905000"/>
            <a:ext cx="5334000" cy="3429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94BF5-5407-E326-E199-812ED862053B}"/>
              </a:ext>
            </a:extLst>
          </p:cNvPr>
          <p:cNvSpPr txBox="1"/>
          <p:nvPr/>
        </p:nvSpPr>
        <p:spPr>
          <a:xfrm>
            <a:off x="736600" y="2057400"/>
            <a:ext cx="4978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BPMN suggestions for Signavio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FFE60-28A2-51CB-6E47-1267A126D740}"/>
              </a:ext>
            </a:extLst>
          </p:cNvPr>
          <p:cNvSpPr txBox="1"/>
          <p:nvPr/>
        </p:nvSpPr>
        <p:spPr>
          <a:xfrm>
            <a:off x="736600" y="2463800"/>
            <a:ext cx="4978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Recommended lanes: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?Passenger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?Onboard Support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?Base Station Operator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?Support System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Useful gateways: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?Is severity critical?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?Is onboard support available?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?Is the passenger responsive?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Useful data objects: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?incident record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?severity level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?action history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?passenger condition information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36BFB1-3A29-BFAB-B731-3F4E092F4BB5}"/>
              </a:ext>
            </a:extLst>
          </p:cNvPr>
          <p:cNvSpPr/>
          <p:nvPr/>
        </p:nvSpPr>
        <p:spPr>
          <a:xfrm>
            <a:off x="6350000" y="1905000"/>
            <a:ext cx="5257800" cy="3429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A549C-BE77-38C3-97D7-E697F42D5012}"/>
              </a:ext>
            </a:extLst>
          </p:cNvPr>
          <p:cNvSpPr txBox="1"/>
          <p:nvPr/>
        </p:nvSpPr>
        <p:spPr>
          <a:xfrm>
            <a:off x="6527800" y="2057400"/>
            <a:ext cx="4902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Persona ideas discussed in the group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2DB3E2-2FF7-C2D8-8BB2-D343D6EDFD7A}"/>
              </a:ext>
            </a:extLst>
          </p:cNvPr>
          <p:cNvSpPr txBox="1"/>
          <p:nvPr/>
        </p:nvSpPr>
        <p:spPr>
          <a:xfrm>
            <a:off x="6527800" y="2463800"/>
            <a:ext cx="4902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Possible next personas: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?Remote medical doctor at the base station for medical emergencies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?Remote psychologist or calming specialist for stress and panic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?Teen passenger or accompanied minor for age-specific communication and responsibility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Modeling tip: only add a separate BPMN lane if that role actively performs tasks or exchanges messages.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AF4CAB-9735-5EDB-3D5A-0662621D8EFF}"/>
              </a:ext>
            </a:extLst>
          </p:cNvPr>
          <p:cNvSpPr txBox="1"/>
          <p:nvPr/>
        </p:nvSpPr>
        <p:spPr>
          <a:xfrm>
            <a:off x="558800" y="5664200"/>
            <a:ext cx="11049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Presentation wording suggestion: these expert personas are good next-iteration extensions because they deepen the process without changing our current prototype scope.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22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CB1DF3-FA70-3C62-C62B-EAA7C759A756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8273DC4-561A-FCD8-C4F0-B5148D9E7BDB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91DD9-82D0-1396-6AAA-D771FE488B29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2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C760A-DDDD-3A5F-20D8-0CD28ABDDCA5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Focus of the software prototype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25091-5778-FD0D-8B42-EA2DEA84FFB0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The prototype is intentionally small but directly supports the most critical process steps.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7FDEC3-FDA7-3C75-EEDC-7190FF834B4E}"/>
              </a:ext>
            </a:extLst>
          </p:cNvPr>
          <p:cNvSpPr/>
          <p:nvPr/>
        </p:nvSpPr>
        <p:spPr>
          <a:xfrm>
            <a:off x="558800" y="1905000"/>
            <a:ext cx="3530600" cy="3556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9D2F3-B840-6BA9-FB40-B30389ADC318}"/>
              </a:ext>
            </a:extLst>
          </p:cNvPr>
          <p:cNvSpPr txBox="1"/>
          <p:nvPr/>
        </p:nvSpPr>
        <p:spPr>
          <a:xfrm>
            <a:off x="736600" y="2057400"/>
            <a:ext cx="3175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Implemented in the prototype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9D581-CE91-9F59-C05B-9D2A879EF9E8}"/>
              </a:ext>
            </a:extLst>
          </p:cNvPr>
          <p:cNvSpPr txBox="1"/>
          <p:nvPr/>
        </p:nvSpPr>
        <p:spPr>
          <a:xfrm>
            <a:off x="736600" y="2463800"/>
            <a:ext cx="3175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?JavaFX desktop application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?passenger overview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?incident creation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?severity classification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?drag-and-drop status board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?action history logging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16A092-91BD-9AE7-8BE0-47B0481C2555}"/>
              </a:ext>
            </a:extLst>
          </p:cNvPr>
          <p:cNvSpPr/>
          <p:nvPr/>
        </p:nvSpPr>
        <p:spPr>
          <a:xfrm>
            <a:off x="4330700" y="1905000"/>
            <a:ext cx="3530600" cy="35560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B49CD-D44A-FF43-7EE4-A7F54EB23222}"/>
              </a:ext>
            </a:extLst>
          </p:cNvPr>
          <p:cNvSpPr txBox="1"/>
          <p:nvPr/>
        </p:nvSpPr>
        <p:spPr>
          <a:xfrm>
            <a:off x="4508500" y="2057400"/>
            <a:ext cx="3175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Exception handling that matters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C6F56F-C6CF-CA59-8DE6-E8BA6907E82F}"/>
              </a:ext>
            </a:extLst>
          </p:cNvPr>
          <p:cNvSpPr txBox="1"/>
          <p:nvPr/>
        </p:nvSpPr>
        <p:spPr>
          <a:xfrm>
            <a:off x="4508500" y="2463800"/>
            <a:ext cx="3175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?automatic escalation of CRITICAL incidents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?fallback escalation when onboard support is unavailable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?base station takeover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?clear status transitions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?traceability for every important action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EAC20E0-0BCF-5677-3DED-EDEB19A73B7D}"/>
              </a:ext>
            </a:extLst>
          </p:cNvPr>
          <p:cNvSpPr/>
          <p:nvPr/>
        </p:nvSpPr>
        <p:spPr>
          <a:xfrm>
            <a:off x="8102600" y="1905000"/>
            <a:ext cx="3530600" cy="3556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785AE6-957D-A35F-7180-97D67D6DB6FD}"/>
              </a:ext>
            </a:extLst>
          </p:cNvPr>
          <p:cNvSpPr txBox="1"/>
          <p:nvPr/>
        </p:nvSpPr>
        <p:spPr>
          <a:xfrm>
            <a:off x="8280400" y="2057400"/>
            <a:ext cx="3175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Mocked on purpose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AA6CF-34E9-5131-E0FE-315388B5E9D7}"/>
              </a:ext>
            </a:extLst>
          </p:cNvPr>
          <p:cNvSpPr txBox="1"/>
          <p:nvPr/>
        </p:nvSpPr>
        <p:spPr>
          <a:xfrm>
            <a:off x="8280400" y="2463800"/>
            <a:ext cx="3175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?real telemetry and spacecraft systems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?AI diagnosis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?network communication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?database persistence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?advanced analytics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0805F5-2A85-04E7-0D62-4338058380C1}"/>
              </a:ext>
            </a:extLst>
          </p:cNvPr>
          <p:cNvSpPr txBox="1"/>
          <p:nvPr/>
        </p:nvSpPr>
        <p:spPr>
          <a:xfrm>
            <a:off x="558800" y="5689600"/>
            <a:ext cx="1104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500" b="1">
                <a:solidFill>
                  <a:srgbClr val="10243A"/>
                </a:solidFill>
                <a:latin typeface="Aptos" panose="020B0004020202020204" pitchFamily="34" charset="0"/>
              </a:rPr>
              <a:t>Design claim: we chose a realistic proof of concept, not a fake enterprise system.</a:t>
            </a:r>
            <a:endParaRPr lang="zh-CN" altLang="en-US" sz="15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98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650A9B-9FFC-B6D0-4F2B-62EA1B95099A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95B70BB-FF1F-D41D-61CE-847CFDC2AE83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6BF6B-4EEC-F350-8FA6-F87E5B93EA3F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2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D7953-703B-6BD1-F636-329344CF83C1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Prototype screenshot: current JavaFX dashboard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62F03-87FD-672C-1592-95B4DF27F2B7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One screen already shows the core process, both main scenarios, and the exception-oriented workflow.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0012A9-05F5-918C-D1CE-20C57CEAFA4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651000"/>
            <a:ext cx="10795000" cy="4572000"/>
          </a:xfrm>
          <a:prstGeom prst="rect">
            <a:avLst/>
          </a:prstGeom>
          <a:ln>
            <a:solidFill>
              <a:srgbClr val="D6DDE5"/>
            </a:solidFill>
          </a:ln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5D252A-E9C1-8A00-0A96-D32CD21C73BA}"/>
              </a:ext>
            </a:extLst>
          </p:cNvPr>
          <p:cNvSpPr/>
          <p:nvPr/>
        </p:nvSpPr>
        <p:spPr>
          <a:xfrm>
            <a:off x="787400" y="1841500"/>
            <a:ext cx="2794000" cy="419100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3BA7C3-8C71-C3B0-B19E-EE15AF8DB133}"/>
              </a:ext>
            </a:extLst>
          </p:cNvPr>
          <p:cNvSpPr/>
          <p:nvPr/>
        </p:nvSpPr>
        <p:spPr>
          <a:xfrm>
            <a:off x="787400" y="1358900"/>
            <a:ext cx="2159000" cy="355600"/>
          </a:xfrm>
          <a:prstGeom prst="round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3D929-EA46-1ACE-F860-0E0E76E9D51C}"/>
              </a:ext>
            </a:extLst>
          </p:cNvPr>
          <p:cNvSpPr txBox="1"/>
          <p:nvPr/>
        </p:nvSpPr>
        <p:spPr>
          <a:xfrm>
            <a:off x="889000" y="1435100"/>
            <a:ext cx="1955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Aptos" panose="020B0004020202020204" pitchFamily="34" charset="0"/>
              </a:rPr>
              <a:t>Passenger overview + incident creation</a:t>
            </a:r>
            <a:endParaRPr lang="zh-CN" alt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BFED5B-0130-ACED-A50B-18EB1FAF580D}"/>
              </a:ext>
            </a:extLst>
          </p:cNvPr>
          <p:cNvSpPr/>
          <p:nvPr/>
        </p:nvSpPr>
        <p:spPr>
          <a:xfrm>
            <a:off x="3708400" y="1841500"/>
            <a:ext cx="4445000" cy="419100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C2E9C7-111C-1187-9365-4A8BC597D041}"/>
              </a:ext>
            </a:extLst>
          </p:cNvPr>
          <p:cNvSpPr/>
          <p:nvPr/>
        </p:nvSpPr>
        <p:spPr>
          <a:xfrm>
            <a:off x="4927600" y="1358900"/>
            <a:ext cx="2159000" cy="355600"/>
          </a:xfrm>
          <a:prstGeom prst="round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34BE95-9CFF-F98F-DAA5-01A48ED38634}"/>
              </a:ext>
            </a:extLst>
          </p:cNvPr>
          <p:cNvSpPr txBox="1"/>
          <p:nvPr/>
        </p:nvSpPr>
        <p:spPr>
          <a:xfrm>
            <a:off x="5029200" y="1435100"/>
            <a:ext cx="1955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Aptos" panose="020B0004020202020204" pitchFamily="34" charset="0"/>
              </a:rPr>
              <a:t>Drag-and-drop workflow board</a:t>
            </a:r>
            <a:endParaRPr lang="zh-CN" alt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50D113-1D31-18FD-79DF-C0D8D6718B3F}"/>
              </a:ext>
            </a:extLst>
          </p:cNvPr>
          <p:cNvSpPr/>
          <p:nvPr/>
        </p:nvSpPr>
        <p:spPr>
          <a:xfrm>
            <a:off x="8255000" y="1841500"/>
            <a:ext cx="3111500" cy="419100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E8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2ABDC4-AA52-6D16-C728-5BEFCF946A4C}"/>
              </a:ext>
            </a:extLst>
          </p:cNvPr>
          <p:cNvSpPr/>
          <p:nvPr/>
        </p:nvSpPr>
        <p:spPr>
          <a:xfrm>
            <a:off x="8204200" y="1358900"/>
            <a:ext cx="2159000" cy="355600"/>
          </a:xfrm>
          <a:prstGeom prst="roundRect">
            <a:avLst/>
          </a:prstGeom>
          <a:solidFill>
            <a:srgbClr val="3E8E5B"/>
          </a:solidFill>
          <a:ln w="0">
            <a:solidFill>
              <a:srgbClr val="3E8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9BC792-5F92-41BB-1D5B-730805C4C736}"/>
              </a:ext>
            </a:extLst>
          </p:cNvPr>
          <p:cNvSpPr txBox="1"/>
          <p:nvPr/>
        </p:nvSpPr>
        <p:spPr>
          <a:xfrm>
            <a:off x="8305800" y="1435100"/>
            <a:ext cx="1955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Aptos" panose="020B0004020202020204" pitchFamily="34" charset="0"/>
              </a:rPr>
              <a:t>Incident details + action history</a:t>
            </a:r>
            <a:endParaRPr lang="zh-CN" alt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81491E4-6C82-0E54-1975-E49441D311D9}"/>
              </a:ext>
            </a:extLst>
          </p:cNvPr>
          <p:cNvSpPr/>
          <p:nvPr/>
        </p:nvSpPr>
        <p:spPr>
          <a:xfrm>
            <a:off x="7874000" y="863600"/>
            <a:ext cx="3619500" cy="482600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BF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5FFD9C-8329-6C11-0700-AB7C24F100B9}"/>
              </a:ext>
            </a:extLst>
          </p:cNvPr>
          <p:cNvSpPr/>
          <p:nvPr/>
        </p:nvSpPr>
        <p:spPr>
          <a:xfrm>
            <a:off x="8585200" y="914400"/>
            <a:ext cx="2159000" cy="355600"/>
          </a:xfrm>
          <a:prstGeom prst="roundRect">
            <a:avLst/>
          </a:prstGeom>
          <a:solidFill>
            <a:srgbClr val="BF3C3C"/>
          </a:solidFill>
          <a:ln w="0">
            <a:solidFill>
              <a:srgbClr val="BF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59413-7C3C-13D3-0793-0CDB03CBCE0A}"/>
              </a:ext>
            </a:extLst>
          </p:cNvPr>
          <p:cNvSpPr txBox="1"/>
          <p:nvPr/>
        </p:nvSpPr>
        <p:spPr>
          <a:xfrm>
            <a:off x="8686800" y="990600"/>
            <a:ext cx="19558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>
                <a:solidFill>
                  <a:srgbClr val="FFFFFF"/>
                </a:solidFill>
                <a:latin typeface="Aptos" panose="020B0004020202020204" pitchFamily="34" charset="0"/>
              </a:rPr>
              <a:t>Availability toggle supports fallback case</a:t>
            </a:r>
            <a:endParaRPr lang="zh-CN" altLang="en-US" sz="1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889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60B32A-C578-B794-2863-0B46A5EDEF41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3E8E5B"/>
          </a:solidFill>
          <a:ln w="0">
            <a:solidFill>
              <a:srgbClr val="3E8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DCADC1-BD1C-6298-D35B-89CA676F6B4B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3E8E5B"/>
          </a:solidFill>
          <a:ln w="0">
            <a:solidFill>
              <a:srgbClr val="3E8E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EC05A-E271-B6C3-61C3-9A50CB3A8C1D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SCENARIO 1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691F8-0D9C-7DCE-5C99-B1D4AB0E0A90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Normal support case in the prototype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BD887C-61C1-A83E-71C9-EFEAAD5C6B30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This is the demo flow for mild anxiety, nausea, or stress.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D73048-8F90-EF08-5A11-385A8B1FDA72}"/>
              </a:ext>
            </a:extLst>
          </p:cNvPr>
          <p:cNvSpPr/>
          <p:nvPr/>
        </p:nvSpPr>
        <p:spPr>
          <a:xfrm>
            <a:off x="558800" y="1905000"/>
            <a:ext cx="5969000" cy="3556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CD48F-86E4-19A9-D6C3-4F49CACF5E0A}"/>
              </a:ext>
            </a:extLst>
          </p:cNvPr>
          <p:cNvSpPr txBox="1"/>
          <p:nvPr/>
        </p:nvSpPr>
        <p:spPr>
          <a:xfrm>
            <a:off x="736600" y="2057400"/>
            <a:ext cx="561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Step-by-step flow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890936-685D-861E-8279-F86D42F2EC0D}"/>
              </a:ext>
            </a:extLst>
          </p:cNvPr>
          <p:cNvSpPr txBox="1"/>
          <p:nvPr/>
        </p:nvSpPr>
        <p:spPr>
          <a:xfrm>
            <a:off x="736600" y="2463800"/>
            <a:ext cx="561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1. Passenger reports discomfort.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2. Incident appears in New.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3. Onboard support moves it to Assessing.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4. Support action is selected and logged.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5. Incident moves to Monitoring.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6. When stable, the case is resolved.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27EBF0-AE15-37B0-9D44-ED86A04D52FF}"/>
              </a:ext>
            </a:extLst>
          </p:cNvPr>
          <p:cNvSpPr/>
          <p:nvPr/>
        </p:nvSpPr>
        <p:spPr>
          <a:xfrm>
            <a:off x="6858000" y="1905000"/>
            <a:ext cx="4749800" cy="35560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4F021-7540-3902-7817-1BBB81FD70FA}"/>
              </a:ext>
            </a:extLst>
          </p:cNvPr>
          <p:cNvSpPr txBox="1"/>
          <p:nvPr/>
        </p:nvSpPr>
        <p:spPr>
          <a:xfrm>
            <a:off x="7035800" y="2057400"/>
            <a:ext cx="4394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Why this matters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A507C3-7206-D6FC-0D2A-137ADD80D55E}"/>
              </a:ext>
            </a:extLst>
          </p:cNvPr>
          <p:cNvSpPr txBox="1"/>
          <p:nvPr/>
        </p:nvSpPr>
        <p:spPr>
          <a:xfrm>
            <a:off x="7035800" y="2463800"/>
            <a:ext cx="4394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?The workflow is visible instead of ad hoc.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?Actions are documented instead of only verbal.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?The board gives structure to the handling process.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?The user can explain this clearly during the demo.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88B707-7DC0-8B96-DC39-C272C3D8B0CE}"/>
              </a:ext>
            </a:extLst>
          </p:cNvPr>
          <p:cNvSpPr txBox="1"/>
          <p:nvPr/>
        </p:nvSpPr>
        <p:spPr>
          <a:xfrm>
            <a:off x="558800" y="5689600"/>
            <a:ext cx="1104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Good transition sentence for speaking: the normal case demonstrates service quality, but the emergency path demonstrates process resilience.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8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56D7B2-7909-A7E0-694F-3B421BFDB449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BF3C3C"/>
          </a:solidFill>
          <a:ln w="0">
            <a:solidFill>
              <a:srgbClr val="BF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3A6851-111C-1A86-C7D1-CFC9EE2A1A6F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BF3C3C"/>
          </a:solidFill>
          <a:ln w="0">
            <a:solidFill>
              <a:srgbClr val="BF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90DE6-2806-5090-CBBD-C0EEFFF1FB3A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SCENARIO 2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69AD6-5E23-90E7-B86F-B0044F8DF65A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Emergency or fallback case in the prototype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641C34-8B54-CBD4-AF44-AA04F3AE3643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This slide is the answer to the professor feedback about exception handling and support unavailability.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B28A9E-0263-BBC8-25EF-34CE99259D5E}"/>
              </a:ext>
            </a:extLst>
          </p:cNvPr>
          <p:cNvSpPr/>
          <p:nvPr/>
        </p:nvSpPr>
        <p:spPr>
          <a:xfrm>
            <a:off x="558800" y="1905000"/>
            <a:ext cx="5969000" cy="3556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B80BC-BA7E-516A-8E9F-0A034A6CB946}"/>
              </a:ext>
            </a:extLst>
          </p:cNvPr>
          <p:cNvSpPr txBox="1"/>
          <p:nvPr/>
        </p:nvSpPr>
        <p:spPr>
          <a:xfrm>
            <a:off x="736600" y="2057400"/>
            <a:ext cx="561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Trigger and response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F5748E-0B6B-6829-95EE-5014AB76C34B}"/>
              </a:ext>
            </a:extLst>
          </p:cNvPr>
          <p:cNvSpPr txBox="1"/>
          <p:nvPr/>
        </p:nvSpPr>
        <p:spPr>
          <a:xfrm>
            <a:off x="736600" y="2463800"/>
            <a:ext cx="561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Trigger A: incident severity is CRITICAL.</a:t>
            </a: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Trigger B: onboard support becomes unavailable.</a:t>
            </a:r>
          </a:p>
          <a:p>
            <a:pPr>
              <a:spcAft>
                <a:spcPts val="600"/>
              </a:spcAft>
            </a:pPr>
            <a:endParaRPr lang="en-US" altLang="zh-CN" sz="1400">
              <a:solidFill>
                <a:srgbClr val="46586D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System response: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?status changes to Escalated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?responsible role changes to Base Station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?history log records the reason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?case remains visible in the same board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1D078E-7F74-23BD-A2D4-92EEF5F509C5}"/>
              </a:ext>
            </a:extLst>
          </p:cNvPr>
          <p:cNvSpPr/>
          <p:nvPr/>
        </p:nvSpPr>
        <p:spPr>
          <a:xfrm>
            <a:off x="6858000" y="1905000"/>
            <a:ext cx="4749800" cy="3556000"/>
          </a:xfrm>
          <a:prstGeom prst="roundRect">
            <a:avLst/>
          </a:prstGeom>
          <a:solidFill>
            <a:srgbClr val="F8E4E2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2BC8A1-B014-6426-DA83-7661E6DA8F74}"/>
              </a:ext>
            </a:extLst>
          </p:cNvPr>
          <p:cNvSpPr txBox="1"/>
          <p:nvPr/>
        </p:nvSpPr>
        <p:spPr>
          <a:xfrm>
            <a:off x="7035800" y="2057400"/>
            <a:ext cx="4394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Why this is presentation-relevant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34BA7A-EF5A-9BB0-59A8-D6F01AD63D19}"/>
              </a:ext>
            </a:extLst>
          </p:cNvPr>
          <p:cNvSpPr txBox="1"/>
          <p:nvPr/>
        </p:nvSpPr>
        <p:spPr>
          <a:xfrm>
            <a:off x="7035800" y="2463800"/>
            <a:ext cx="4394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?It proves we did not design only a happy path.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?It answers the question: what happens if support is incapacitated?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?It gives the prototype a clear differentiating point.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?It creates a stronger BPMN model with exception gateways.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E10F2E-C8BA-F701-C006-16EB521C5C1A}"/>
              </a:ext>
            </a:extLst>
          </p:cNvPr>
          <p:cNvSpPr txBox="1"/>
          <p:nvPr/>
        </p:nvSpPr>
        <p:spPr>
          <a:xfrm>
            <a:off x="558800" y="5689600"/>
            <a:ext cx="1104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500" b="1">
                <a:solidFill>
                  <a:srgbClr val="10243A"/>
                </a:solidFill>
                <a:latin typeface="Aptos" panose="020B0004020202020204" pitchFamily="34" charset="0"/>
              </a:rPr>
              <a:t>Key line to say: the software still supports the process even when the onboard support role cannot continue normally.</a:t>
            </a:r>
            <a:endParaRPr lang="zh-CN" altLang="en-US" sz="15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804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8A6B0D-311A-7B20-D84E-7A932D3897AC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9D8F25-7C4C-EAF7-49EB-3842D9ED0022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D1A8EB-6207-5001-82E4-158D647547DE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2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DD712-529A-D6C1-6C49-052CCBB57486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How the prototype fits the professor requirements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8DBC2-FB37-52E8-7EC6-C15FEC1A822A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This is the bridge between the code and the grading criteria.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216B9C-8163-0030-29E3-BBEE9DC2399E}"/>
              </a:ext>
            </a:extLst>
          </p:cNvPr>
          <p:cNvSpPr/>
          <p:nvPr/>
        </p:nvSpPr>
        <p:spPr>
          <a:xfrm>
            <a:off x="558800" y="1905000"/>
            <a:ext cx="3429000" cy="3302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9F7A9-3391-BCCF-7EBF-43F05364A151}"/>
              </a:ext>
            </a:extLst>
          </p:cNvPr>
          <p:cNvSpPr txBox="1"/>
          <p:nvPr/>
        </p:nvSpPr>
        <p:spPr>
          <a:xfrm>
            <a:off x="7366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Process thinking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BFC278-4A5F-13BD-C515-DF42E2C20C60}"/>
              </a:ext>
            </a:extLst>
          </p:cNvPr>
          <p:cNvSpPr txBox="1"/>
          <p:nvPr/>
        </p:nvSpPr>
        <p:spPr>
          <a:xfrm>
            <a:off x="7366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?clear scope in the Space Flight phase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?personas tied to the core process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?normal case and emergency case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?BPMN-ready process descriptions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31B056-806B-6012-2570-86052E50ABD1}"/>
              </a:ext>
            </a:extLst>
          </p:cNvPr>
          <p:cNvSpPr/>
          <p:nvPr/>
        </p:nvSpPr>
        <p:spPr>
          <a:xfrm>
            <a:off x="4381500" y="1905000"/>
            <a:ext cx="3429000" cy="33020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034908-3B00-58C2-1C55-2DC10F26825E}"/>
              </a:ext>
            </a:extLst>
          </p:cNvPr>
          <p:cNvSpPr txBox="1"/>
          <p:nvPr/>
        </p:nvSpPr>
        <p:spPr>
          <a:xfrm>
            <a:off x="45593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Software engineering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EFF35-AF43-268B-F347-F258F64D36B3}"/>
              </a:ext>
            </a:extLst>
          </p:cNvPr>
          <p:cNvSpPr txBox="1"/>
          <p:nvPr/>
        </p:nvSpPr>
        <p:spPr>
          <a:xfrm>
            <a:off x="45593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?layered architecture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?UI separated from business logic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?enums for status and severity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?SOLID, DRY, KISS, YAGNI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F6CF41-706F-59B6-0B60-7FBF45989F69}"/>
              </a:ext>
            </a:extLst>
          </p:cNvPr>
          <p:cNvSpPr/>
          <p:nvPr/>
        </p:nvSpPr>
        <p:spPr>
          <a:xfrm>
            <a:off x="8204200" y="1905000"/>
            <a:ext cx="3429000" cy="3302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B90A79-C8A3-AB64-E283-5A4D72C5FA03}"/>
              </a:ext>
            </a:extLst>
          </p:cNvPr>
          <p:cNvSpPr txBox="1"/>
          <p:nvPr/>
        </p:nvSpPr>
        <p:spPr>
          <a:xfrm>
            <a:off x="8382000" y="20574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Demo readiness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CC27A6-2EFA-1217-3CE2-C83791A82A62}"/>
              </a:ext>
            </a:extLst>
          </p:cNvPr>
          <p:cNvSpPr txBox="1"/>
          <p:nvPr/>
        </p:nvSpPr>
        <p:spPr>
          <a:xfrm>
            <a:off x="8382000" y="2463800"/>
            <a:ext cx="30734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?runnable JavaFX application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?drag-and-drop workflow board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?action history and traceability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?JUnit tests for key rules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DE5015-2450-5DD5-85F1-DE463FEF6290}"/>
              </a:ext>
            </a:extLst>
          </p:cNvPr>
          <p:cNvSpPr txBox="1"/>
          <p:nvPr/>
        </p:nvSpPr>
        <p:spPr>
          <a:xfrm>
            <a:off x="558800" y="5562600"/>
            <a:ext cx="11049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Good conclusion for this slide: the prototype is small, but it is defensible from both a process and a software-engineering perspective.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05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3B420B-1568-DE71-D691-0DFAAF68D14D}"/>
              </a:ext>
            </a:extLst>
          </p:cNvPr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936741-371D-98D7-3F54-F80C9FA8513A}"/>
              </a:ext>
            </a:extLst>
          </p:cNvPr>
          <p:cNvSpPr/>
          <p:nvPr/>
        </p:nvSpPr>
        <p:spPr>
          <a:xfrm>
            <a:off x="533400" y="304800"/>
            <a:ext cx="1651000" cy="355600"/>
          </a:xfrm>
          <a:prstGeom prst="roundRect">
            <a:avLst/>
          </a:prstGeom>
          <a:solidFill>
            <a:srgbClr val="138DA6"/>
          </a:solidFill>
          <a:ln w="0">
            <a:solidFill>
              <a:srgbClr val="138D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CED3C-CE3D-78A1-F40C-EDBC1BDCE693}"/>
              </a:ext>
            </a:extLst>
          </p:cNvPr>
          <p:cNvSpPr txBox="1"/>
          <p:nvPr/>
        </p:nvSpPr>
        <p:spPr>
          <a:xfrm>
            <a:off x="660400" y="368300"/>
            <a:ext cx="1397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300" b="1">
                <a:solidFill>
                  <a:srgbClr val="FFFFFF"/>
                </a:solidFill>
                <a:latin typeface="Aptos" panose="020B0004020202020204" pitchFamily="34" charset="0"/>
              </a:rPr>
              <a:t>PART 3</a:t>
            </a:r>
            <a:endParaRPr lang="zh-CN" altLang="en-US" sz="13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8DD84-B846-9E55-B645-238BD89332B7}"/>
              </a:ext>
            </a:extLst>
          </p:cNvPr>
          <p:cNvSpPr txBox="1"/>
          <p:nvPr/>
        </p:nvSpPr>
        <p:spPr>
          <a:xfrm>
            <a:off x="508000" y="7620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800" b="1">
                <a:solidFill>
                  <a:srgbClr val="10243A"/>
                </a:solidFill>
                <a:latin typeface="Aptos Display" panose="020B0004020202020204" pitchFamily="34" charset="0"/>
              </a:rPr>
              <a:t>Open points for the next iteration (group work)</a:t>
            </a:r>
            <a:endParaRPr lang="zh-CN" altLang="en-US" sz="2800" b="1">
              <a:solidFill>
                <a:srgbClr val="10243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78075-0E59-536D-80A8-54B85918BEE5}"/>
              </a:ext>
            </a:extLst>
          </p:cNvPr>
          <p:cNvSpPr txBox="1"/>
          <p:nvPr/>
        </p:nvSpPr>
        <p:spPr>
          <a:xfrm>
            <a:off x="508000" y="1244600"/>
            <a:ext cx="11176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This is where you show realism: what is already done, and what is still intentionally open.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D808F5-0211-C022-9772-B68E4D07EEFA}"/>
              </a:ext>
            </a:extLst>
          </p:cNvPr>
          <p:cNvSpPr/>
          <p:nvPr/>
        </p:nvSpPr>
        <p:spPr>
          <a:xfrm>
            <a:off x="558800" y="1905000"/>
            <a:ext cx="2603500" cy="2540000"/>
          </a:xfrm>
          <a:prstGeom prst="roundRect">
            <a:avLst/>
          </a:prstGeom>
          <a:solidFill>
            <a:srgbClr val="E1EFF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0B6AD8-F74D-59FA-684A-EA65FE49B2E5}"/>
              </a:ext>
            </a:extLst>
          </p:cNvPr>
          <p:cNvSpPr txBox="1"/>
          <p:nvPr/>
        </p:nvSpPr>
        <p:spPr>
          <a:xfrm>
            <a:off x="736600" y="20574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BPMN in Signavio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05E6D-C7AA-BB30-6328-2A89ECD35899}"/>
              </a:ext>
            </a:extLst>
          </p:cNvPr>
          <p:cNvSpPr txBox="1"/>
          <p:nvPr/>
        </p:nvSpPr>
        <p:spPr>
          <a:xfrm>
            <a:off x="736600" y="24638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Finalize lanes, gateways, exception paths, and data objects for both cases.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55284A-ACA1-BBF3-5543-98CE3EE5885F}"/>
              </a:ext>
            </a:extLst>
          </p:cNvPr>
          <p:cNvSpPr/>
          <p:nvPr/>
        </p:nvSpPr>
        <p:spPr>
          <a:xfrm>
            <a:off x="3390900" y="1905000"/>
            <a:ext cx="2603500" cy="2540000"/>
          </a:xfrm>
          <a:prstGeom prst="roundRect">
            <a:avLst/>
          </a:prstGeom>
          <a:solidFill>
            <a:srgbClr val="FCEBDD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79EE4-4C8E-9895-69F2-49259646369E}"/>
              </a:ext>
            </a:extLst>
          </p:cNvPr>
          <p:cNvSpPr txBox="1"/>
          <p:nvPr/>
        </p:nvSpPr>
        <p:spPr>
          <a:xfrm>
            <a:off x="3568700" y="20574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Additional personas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55B765-3839-14CE-CA5A-D83ED8A059B3}"/>
              </a:ext>
            </a:extLst>
          </p:cNvPr>
          <p:cNvSpPr txBox="1"/>
          <p:nvPr/>
        </p:nvSpPr>
        <p:spPr>
          <a:xfrm>
            <a:off x="3568700" y="24638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Decide whether remote doctor, psychologist, and teen passenger become active process roles.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A34646-865B-0A10-7628-03C705E1E39F}"/>
              </a:ext>
            </a:extLst>
          </p:cNvPr>
          <p:cNvSpPr/>
          <p:nvPr/>
        </p:nvSpPr>
        <p:spPr>
          <a:xfrm>
            <a:off x="6223000" y="1905000"/>
            <a:ext cx="2603500" cy="2540000"/>
          </a:xfrm>
          <a:prstGeom prst="roundRect">
            <a:avLst/>
          </a:prstGeom>
          <a:solidFill>
            <a:srgbClr val="E3F2E6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4BB99-C547-E086-D26C-717C8A83894E}"/>
              </a:ext>
            </a:extLst>
          </p:cNvPr>
          <p:cNvSpPr txBox="1"/>
          <p:nvPr/>
        </p:nvSpPr>
        <p:spPr>
          <a:xfrm>
            <a:off x="6400800" y="20574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Prototype refinement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C0F8D1-B408-7C5D-C3D9-D34E0F2E4E83}"/>
              </a:ext>
            </a:extLst>
          </p:cNvPr>
          <p:cNvSpPr txBox="1"/>
          <p:nvPr/>
        </p:nvSpPr>
        <p:spPr>
          <a:xfrm>
            <a:off x="6400800" y="24638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Role-specific views, better demo flow, richer validation, and more realistic escalation communication.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924AAC-A331-0154-86D1-4FF0A8FEC339}"/>
              </a:ext>
            </a:extLst>
          </p:cNvPr>
          <p:cNvSpPr/>
          <p:nvPr/>
        </p:nvSpPr>
        <p:spPr>
          <a:xfrm>
            <a:off x="9055100" y="1905000"/>
            <a:ext cx="2603500" cy="2540000"/>
          </a:xfrm>
          <a:prstGeom prst="roundRect">
            <a:avLst/>
          </a:prstGeom>
          <a:solidFill>
            <a:srgbClr val="F8E4E2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BEA411-A36C-F86A-956C-B329FAB8AF3D}"/>
              </a:ext>
            </a:extLst>
          </p:cNvPr>
          <p:cNvSpPr txBox="1"/>
          <p:nvPr/>
        </p:nvSpPr>
        <p:spPr>
          <a:xfrm>
            <a:off x="9232900" y="20574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Technical depth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B83DE9-C8E7-76A4-D348-AC12A8407908}"/>
              </a:ext>
            </a:extLst>
          </p:cNvPr>
          <p:cNvSpPr txBox="1"/>
          <p:nvPr/>
        </p:nvSpPr>
        <p:spPr>
          <a:xfrm>
            <a:off x="9232900" y="2463800"/>
            <a:ext cx="22479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Persistence, telemetry simulation, notifications, and stronger reporting if time allows.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0EBCB0A-6742-6948-5B4D-A4BE83171C54}"/>
              </a:ext>
            </a:extLst>
          </p:cNvPr>
          <p:cNvSpPr/>
          <p:nvPr/>
        </p:nvSpPr>
        <p:spPr>
          <a:xfrm>
            <a:off x="558800" y="4826000"/>
            <a:ext cx="11099800" cy="1092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02CD7B-C6F0-A28E-9EFB-5000F1E9070B}"/>
              </a:ext>
            </a:extLst>
          </p:cNvPr>
          <p:cNvSpPr txBox="1"/>
          <p:nvPr/>
        </p:nvSpPr>
        <p:spPr>
          <a:xfrm>
            <a:off x="736600" y="4978400"/>
            <a:ext cx="10744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Group recommendation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32846-93D4-B752-13F2-E5BB4CB7580D}"/>
              </a:ext>
            </a:extLst>
          </p:cNvPr>
          <p:cNvSpPr txBox="1"/>
          <p:nvPr/>
        </p:nvSpPr>
        <p:spPr>
          <a:xfrm>
            <a:off x="736600" y="5384800"/>
            <a:ext cx="107442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Keep the next iteration focused: add one new expert role and one new exception case rather than expanding everything at once.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62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23DCD-B256-A844-059E-5A42DB9BECF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E36F1E"/>
          </a:solidFill>
          <a:ln w="0">
            <a:solidFill>
              <a:srgbClr val="E36F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BEE9C-F20D-4FFF-8E1C-173961881C34}"/>
              </a:ext>
            </a:extLst>
          </p:cNvPr>
          <p:cNvSpPr txBox="1"/>
          <p:nvPr/>
        </p:nvSpPr>
        <p:spPr>
          <a:xfrm>
            <a:off x="584200" y="1117600"/>
            <a:ext cx="3810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3000" b="1">
                <a:solidFill>
                  <a:srgbClr val="FFFFFF"/>
                </a:solidFill>
                <a:latin typeface="Aptos Display" panose="020B0004020202020204" pitchFamily="34" charset="0"/>
              </a:rPr>
              <a:t>Takeaway</a:t>
            </a:r>
            <a:endParaRPr lang="zh-CN" altLang="en-US" sz="3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10CC44-5174-CA89-BBF6-ED6DB43CD6C5}"/>
              </a:ext>
            </a:extLst>
          </p:cNvPr>
          <p:cNvSpPr/>
          <p:nvPr/>
        </p:nvSpPr>
        <p:spPr>
          <a:xfrm>
            <a:off x="584200" y="2032000"/>
            <a:ext cx="11023600" cy="287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D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3B46F-0EED-FC61-3E78-BF733E699C8E}"/>
              </a:ext>
            </a:extLst>
          </p:cNvPr>
          <p:cNvSpPr txBox="1"/>
          <p:nvPr/>
        </p:nvSpPr>
        <p:spPr>
          <a:xfrm>
            <a:off x="762000" y="2184400"/>
            <a:ext cx="10668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800" b="1">
                <a:solidFill>
                  <a:srgbClr val="10243A"/>
                </a:solidFill>
                <a:latin typeface="Aptos" panose="020B0004020202020204" pitchFamily="34" charset="0"/>
              </a:rPr>
              <a:t>Final message for the professor</a:t>
            </a:r>
            <a:endParaRPr lang="zh-CN" altLang="en-US" sz="1800" b="1">
              <a:solidFill>
                <a:srgbClr val="10243A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D0883-6BE2-3447-AE6C-4E624E4E45E0}"/>
              </a:ext>
            </a:extLst>
          </p:cNvPr>
          <p:cNvSpPr txBox="1"/>
          <p:nvPr/>
        </p:nvSpPr>
        <p:spPr>
          <a:xfrm>
            <a:off x="762000" y="2590800"/>
            <a:ext cx="10668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?We support one clearly scoped business process in the Space Flight phase.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?We show the main personas and the handover between them.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?We built a runnable prototype for both the normal support case and the emergency or fallback case.</a:t>
            </a:r>
          </a:p>
          <a:p>
            <a:pPr>
              <a:spcAft>
                <a:spcPts val="600"/>
              </a:spcAft>
            </a:pPr>
            <a:r>
              <a:rPr lang="zh-CN" altLang="en-US" sz="1400">
                <a:solidFill>
                  <a:srgbClr val="46586D"/>
                </a:solidFill>
                <a:latin typeface="Aptos" panose="020B0004020202020204" pitchFamily="34" charset="0"/>
              </a:rPr>
              <a:t>鈥</a:t>
            </a:r>
            <a:r>
              <a:rPr lang="en-US" altLang="zh-CN" sz="1400">
                <a:solidFill>
                  <a:srgbClr val="46586D"/>
                </a:solidFill>
                <a:latin typeface="Aptos" panose="020B0004020202020204" pitchFamily="34" charset="0"/>
              </a:rPr>
              <a:t>?We know exactly what belongs to the next iteration: BPMN detail, extra expert roles, and deeper realism.</a:t>
            </a:r>
            <a:endParaRPr lang="zh-CN" altLang="en-US" sz="1400">
              <a:solidFill>
                <a:srgbClr val="46586D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70BBD5-EDE0-EC94-DD65-471C9C9CBED1}"/>
              </a:ext>
            </a:extLst>
          </p:cNvPr>
          <p:cNvSpPr txBox="1"/>
          <p:nvPr/>
        </p:nvSpPr>
        <p:spPr>
          <a:xfrm>
            <a:off x="584200" y="5435600"/>
            <a:ext cx="25400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2200" b="1">
                <a:solidFill>
                  <a:srgbClr val="FFFFFF"/>
                </a:solidFill>
                <a:latin typeface="Aptos" panose="020B0004020202020204" pitchFamily="34" charset="0"/>
              </a:rPr>
              <a:t>Questions?</a:t>
            </a:r>
            <a:endParaRPr lang="zh-CN" altLang="en-US" sz="2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C16FF-A778-A78A-B49B-34E4988963C0}"/>
              </a:ext>
            </a:extLst>
          </p:cNvPr>
          <p:cNvSpPr txBox="1"/>
          <p:nvPr/>
        </p:nvSpPr>
        <p:spPr>
          <a:xfrm>
            <a:off x="584200" y="5918200"/>
            <a:ext cx="11023600" cy="30008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E0F4F7"/>
                </a:solidFill>
                <a:latin typeface="Aptos" panose="020B0004020202020204" pitchFamily="34" charset="0"/>
              </a:rPr>
              <a:t>Backup note: if asked about future work, point to Signavio BPMN completion, remote doctor / psychologist roles, and richer telemetry integration.</a:t>
            </a:r>
            <a:endParaRPr lang="zh-CN" altLang="en-US" sz="1400">
              <a:solidFill>
                <a:srgbClr val="E0F4F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09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</Words>
  <Application>Microsoft Office PowerPoint</Application>
  <PresentationFormat>On-screen Show (16:9)</PresentationFormat>
  <Paragraphs>217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Liang, Wenhuan</dc:creator>
  <cp:lastModifiedBy>Liang, Wenhuan</cp:lastModifiedBy>
  <cp:revision>1</cp:revision>
  <dcterms:created xsi:type="dcterms:W3CDTF">2026-03-26T13:02:13Z</dcterms:created>
  <dcterms:modified xsi:type="dcterms:W3CDTF">2026-03-26T13:02:13Z</dcterms:modified>
</cp:coreProperties>
</file>